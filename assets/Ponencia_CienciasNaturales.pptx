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sldRId1"/>
    <p:sldId id="257" r:id="sldRId2"/>
    <p:sldId id="258" r:id="sldRId3"/>
    <p:sldId id="259" r:id="sldRId4"/>
    <p:sldId id="260" r:id="sldRId5"/>
    <p:sldId id="261" r:id="sldRId6"/>
    <p:sldId id="262" r:id="sldRId7"/>
    <p:sldId id="263" r:id="sldRId8"/>
    <p:sldId id="264" r:id="sldRId9"/>
    <p:sldId id="265" r:id="sldRId10"/>
    <p:sldId id="266" r:id="sldRId11"/>
    <p:sldId id="267" r:id="sldRId12"/>
    <p:sldId id="268" r:id="sldRId13"/>
    <p:sldId id="269" r:id="sldRId14"/>
    <p:sldId id="270" r:id="sldRId1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55"/>
    <p:restoredTop sz="94607"/>
  </p:normalViewPr>
  <p:slideViewPr>
    <p:cSldViewPr snapToGrid="0">
      <p:cViewPr varScale="1">
        <p:scale>
          <a:sx n="114" d="100"/>
          <a:sy n="114" d="100"/>
        </p:scale>
        <p:origin x="184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theme" Target="theme/theme1.xml"/><Relationship Id="rId7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9" Type="http://schemas.openxmlformats.org/officeDocument/2006/relationships/tableStyles" Target="tableStyles.xml"/><Relationship Id="sldRId1" Type="http://schemas.openxmlformats.org/officeDocument/2006/relationships/slide" Target="slides/slide1.xml"/><Relationship Id="sldRId2" Type="http://schemas.openxmlformats.org/officeDocument/2006/relationships/slide" Target="slides/slide2.xml"/><Relationship Id="sldRId3" Type="http://schemas.openxmlformats.org/officeDocument/2006/relationships/slide" Target="slides/slide3.xml"/><Relationship Id="sldRId4" Type="http://schemas.openxmlformats.org/officeDocument/2006/relationships/slide" Target="slides/slide4.xml"/><Relationship Id="sldRId5" Type="http://schemas.openxmlformats.org/officeDocument/2006/relationships/slide" Target="slides/slide5.xml"/><Relationship Id="sldRId6" Type="http://schemas.openxmlformats.org/officeDocument/2006/relationships/slide" Target="slides/slide6.xml"/><Relationship Id="sldRId7" Type="http://schemas.openxmlformats.org/officeDocument/2006/relationships/slide" Target="slides/slide7.xml"/><Relationship Id="sldRId8" Type="http://schemas.openxmlformats.org/officeDocument/2006/relationships/slide" Target="slides/slide8.xml"/><Relationship Id="sldRId9" Type="http://schemas.openxmlformats.org/officeDocument/2006/relationships/slide" Target="slides/slide9.xml"/><Relationship Id="sldRId10" Type="http://schemas.openxmlformats.org/officeDocument/2006/relationships/slide" Target="slides/slide10.xml"/><Relationship Id="sldRId11" Type="http://schemas.openxmlformats.org/officeDocument/2006/relationships/slide" Target="slides/slide11.xml"/><Relationship Id="sldRId12" Type="http://schemas.openxmlformats.org/officeDocument/2006/relationships/slide" Target="slides/slide12.xml"/><Relationship Id="sldRId13" Type="http://schemas.openxmlformats.org/officeDocument/2006/relationships/slide" Target="slides/slide13.xml"/><Relationship Id="sldRId14" Type="http://schemas.openxmlformats.org/officeDocument/2006/relationships/slide" Target="slides/slide14.xml"/><Relationship Id="sldRId15" Type="http://schemas.openxmlformats.org/officeDocument/2006/relationships/slide" Target="slides/slide1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FEF56D-AFE5-0F9B-6955-1A09BA8A50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3ACC5C0-7449-F344-32CC-1E310CBCB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1F25CB3-0E42-DF6D-C270-13863D117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EFA6-278B-644B-8822-4BD065670C3E}" type="datetimeFigureOut">
              <a:rPr lang="es-CO" smtClean="0"/>
              <a:t>14/04/26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DC308C-FECE-E0E1-606C-AB9062BD0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AED10C-F4A2-6119-574F-42C5D4CAC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2585C-5D31-D043-B725-0F221CAB4CF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95955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D26FA8-A557-7EC0-43A3-98F026433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C9EFE2-CF2C-9229-774B-AE2001FA7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AAC721-DD23-092A-6E1A-D65E5D970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EFA6-278B-644B-8822-4BD065670C3E}" type="datetimeFigureOut">
              <a:rPr lang="es-CO" smtClean="0"/>
              <a:t>14/04/26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3E48C28-4E11-F751-0435-43B638EC4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977FD4-7B48-D1BD-0C13-B112BCEE7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2585C-5D31-D043-B725-0F221CAB4CF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51151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E6B60C-1462-8066-5E05-07E2AD0CB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F540579-259A-BD24-31D5-1225E124D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CC27C6-2F3E-B769-601A-44D18BEE4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EFA6-278B-644B-8822-4BD065670C3E}" type="datetimeFigureOut">
              <a:rPr lang="es-CO" smtClean="0"/>
              <a:t>14/04/26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B82762F-B898-98EE-B112-6E82143E3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3E931B-8227-0A26-07BD-C6060EE6C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2585C-5D31-D043-B725-0F221CAB4CF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09352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4F079E-183E-BA1F-4C51-F9B4B9F78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7108D8-04B5-DDA3-2C2A-AA0EC6723B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664FA66-3F68-D611-E049-8D826E31C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1A78E86-087C-3188-7F18-49DC2B52F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EFA6-278B-644B-8822-4BD065670C3E}" type="datetimeFigureOut">
              <a:rPr lang="es-CO" smtClean="0"/>
              <a:t>14/04/26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2ABC201-8F57-5C6C-71F1-0E42373E2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2A23090-168D-1E45-5D95-745640AEF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2585C-5D31-D043-B725-0F221CAB4CF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24720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246306-5A33-989D-E1EE-8A07499BF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49DDAD-1400-0896-2E8D-67ABF9C6D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867BAC8-9920-1427-E64E-47EA91044D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094C57E-554E-1599-9EE7-B26EA79E1C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A3BB610-8868-C5BD-0A8E-2494D45151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2F87F4C-E9CC-9978-C762-E1B97084E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EFA6-278B-644B-8822-4BD065670C3E}" type="datetimeFigureOut">
              <a:rPr lang="es-CO" smtClean="0"/>
              <a:t>14/04/26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FC3D439-A84C-563D-8F56-245FC1424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D826CD7-035E-5D25-185E-CAF3C642A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2585C-5D31-D043-B725-0F221CAB4CF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7261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829096-EB94-029B-7F33-B38E63A76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E03D17-21E1-CCFA-C186-80C0A7D79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EFA6-278B-644B-8822-4BD065670C3E}" type="datetimeFigureOut">
              <a:rPr lang="es-CO" smtClean="0"/>
              <a:t>14/04/26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A7B53D4-0D0E-72FB-36EB-0FFC464A8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BDCDF34-F761-F943-C074-119121C72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2585C-5D31-D043-B725-0F221CAB4CF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18853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B70C0C2-D047-F3D8-1521-08F049540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EFA6-278B-644B-8822-4BD065670C3E}" type="datetimeFigureOut">
              <a:rPr lang="es-CO" smtClean="0"/>
              <a:t>14/04/26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A98B3E1-B70F-B829-16A4-5C72C09D0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A7025E7-E0DC-D66F-63DA-A5FE58196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2585C-5D31-D043-B725-0F221CAB4CF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86940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1C6430-5220-040F-CDD3-D9B151BD1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633E35-CB36-87C7-3C77-93C0A23854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ADC0E81-1A52-A316-166B-2C8BF2BD1F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F7633A3-EA67-CB66-0C65-FC1AB8128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EFA6-278B-644B-8822-4BD065670C3E}" type="datetimeFigureOut">
              <a:rPr lang="es-CO" smtClean="0"/>
              <a:t>14/04/26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82759AC-6A31-E63D-E200-697738D70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9400B3C-3636-75CE-847D-DAFDAE36F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2585C-5D31-D043-B725-0F221CAB4CF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34801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EDFDFA-7191-496B-69A4-819650063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676BC18-3057-03FC-578C-443E74960B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D51531D-B67C-FDC0-F106-2D37A42A8B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BBE082C-ADD0-2A3C-EA85-874D5602D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EFA6-278B-644B-8822-4BD065670C3E}" type="datetimeFigureOut">
              <a:rPr lang="es-CO" smtClean="0"/>
              <a:t>14/04/26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74D21C1-5972-198F-4CE6-8AC88855F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9B9B7C1-CD77-8327-978C-05B92BD46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2585C-5D31-D043-B725-0F221CAB4CF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13938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DFE124-6AB4-BEDE-AF9A-835F2E11A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27E97E3-01E6-D199-6071-A0DC5A343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369850A-BEFB-84B6-AA32-65C3EB8D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EFA6-278B-644B-8822-4BD065670C3E}" type="datetimeFigureOut">
              <a:rPr lang="es-CO" smtClean="0"/>
              <a:t>14/04/26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96305FC-9F04-6E0C-9A14-297DDAAD8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6F91C0-8246-E529-3F69-BBB49CF27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2585C-5D31-D043-B725-0F221CAB4CF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70039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17AC15D-27E5-C0FE-6410-0F02476A31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3A13E4A-035B-B828-DE25-8AD4FC5A1C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98AF69-B92C-60D7-4C87-4964B462E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EFA6-278B-644B-8822-4BD065670C3E}" type="datetimeFigureOut">
              <a:rPr lang="es-CO" smtClean="0"/>
              <a:t>14/04/26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FEE81C4-6978-3AA8-4570-C0BBD82A0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BAFF96D-642F-1EDC-60F6-0080724F8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2585C-5D31-D043-B725-0F221CAB4CF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77296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2E69D52-E5B9-CADF-86A6-2E31949F5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3026998-AD32-6951-3A8D-78443B918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62CE7BC-B4F8-DF70-8806-56D1A38B4C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38EFA6-278B-644B-8822-4BD065670C3E}" type="datetimeFigureOut">
              <a:rPr lang="es-CO" smtClean="0"/>
              <a:t>14/04/26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631D6EC-AEFF-D6EC-177E-62A6DCD8A8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D404D50-95BA-EC82-5021-422A21D5D8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F2585C-5D31-D043-B725-0F221CAB4CF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9104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extLst>
    <p:ext uri="{BB962C8B-B14F-4D97-AF65-F5344CB8AC3E}">
      <p14:creationId xmlns:p14="http://schemas.microsoft.com/office/powerpoint/2010/main" val="1234567890"/>
    </p:ext>
  </p:extLst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ulo"/>
          <p:cNvSpPr txBox="1"/>
          <p:nvPr/>
        </p:nvSpPr>
        <p:spPr>
          <a:xfrm>
            <a:off x="3066068" y="1900000"/>
            <a:ext cx="5900000" cy="1100000"/>
          </a:xfrm>
          <a:prstGeom prst="rect">
            <a:avLst/>
          </a:prstGeom>
          <a:noFill/>
        </p:spPr>
        <a:txBody>
          <a:bodyPr wrap="square" rtlCol="0">
            <a:spAutoFit/>
          </a:bodyPr>
          <a:lstStyle/>
          <a:p>
            <a:pPr algn="ctr"/>
            <a:r>
              <a:rPr lang="es-CO" sz="2400" b="1" dirty="0">
                <a:solidFill>
                  <a:srgbClr val="FFFFFF"/>
                </a:solidFill>
                <a:latin typeface="Roboto Condensed"/>
                <a:ea typeface="Roboto Condensed"/>
              </a:rPr>
              <a:t>Aplicación Móvil Educativa Basada en</a:t>
            </a:r>
          </a:p>
          <a:p>
            <a:pPr algn="ctr"/>
            <a:r>
              <a:rPr lang="es-CO" sz="2400" b="1" dirty="0">
                <a:solidFill>
                  <a:srgbClr val="FFD600"/>
                </a:solidFill>
                <a:latin typeface="Roboto Condensed"/>
                <a:ea typeface="Roboto Condensed"/>
              </a:rPr>
              <a:t>Chatbot Conversacional y Reconocimiento de Imágenes</a:t>
            </a:r>
          </a:p>
          <a:p>
            <a:pPr algn="ctr"/>
            <a:r>
              <a:rPr lang="es-CO" sz="2400" b="1" dirty="0">
                <a:solidFill>
                  <a:srgbClr val="FFFFFF"/>
                </a:solidFill>
                <a:latin typeface="Roboto Condensed"/>
                <a:ea typeface="Roboto Condensed"/>
              </a:rPr>
              <a:t>para la Enseñanza de Ciencias Naturales</a:t>
            </a:r>
          </a:p>
        </a:txBody>
      </p:sp>
      <p:sp>
        <p:nvSpPr>
          <p:cNvPr id="11" name="Subtitulo"/>
          <p:cNvSpPr txBox="1"/>
          <p:nvPr/>
        </p:nvSpPr>
        <p:spPr>
          <a:xfrm>
            <a:off x="3066068" y="3100000"/>
            <a:ext cx="5900000" cy="600000"/>
          </a:xfrm>
          <a:prstGeom prst="rect">
            <a:avLst/>
          </a:prstGeom>
          <a:noFill/>
        </p:spPr>
        <a:txBody>
          <a:bodyPr wrap="square" rtlCol="0">
            <a:spAutoFit/>
          </a:bodyPr>
          <a:lstStyle/>
          <a:p>
            <a:pPr algn="ctr"/>
            <a:r>
              <a:rPr lang="es-CO" sz="1400" b="0" dirty="0">
                <a:solidFill>
                  <a:srgbClr val="B3E5FC"/>
                </a:solidFill>
                <a:latin typeface="Bricolage Grotesque 18pt Conden"/>
                <a:ea typeface="Bricolage Grotesque 18pt Conden"/>
              </a:rPr>
              <a:t>Ponencia — Evento Universitario Internacional</a:t>
            </a:r>
          </a:p>
          <a:p>
            <a:pPr algn="ctr"/>
            <a:r>
              <a:rPr lang="es-CO" sz="1400" b="0" dirty="0">
                <a:solidFill>
                  <a:srgbClr val="B3E5FC"/>
                </a:solidFill>
                <a:latin typeface="Bricolage Grotesque 18pt Conden"/>
                <a:ea typeface="Bricolage Grotesque 18pt Conden"/>
              </a:rPr>
              <a:t>Abril 2026</a:t>
            </a:r>
          </a:p>
        </a:txBody>
      </p:sp>
      <p:sp>
        <p:nvSpPr>
          <p:cNvPr id="12" name="Autores"/>
          <p:cNvSpPr txBox="1"/>
          <p:nvPr/>
        </p:nvSpPr>
        <p:spPr>
          <a:xfrm>
            <a:off x="3246046" y="4200000"/>
            <a:ext cx="5699907" cy="1100000"/>
          </a:xfrm>
          <a:prstGeom prst="rect">
            <a:avLst/>
          </a:prstGeom>
          <a:noFill/>
        </p:spPr>
        <a:txBody>
          <a:bodyPr wrap="square" rtlCol="0">
            <a:spAutoFit/>
          </a:bodyPr>
          <a:lstStyle/>
          <a:p>
            <a:pPr algn="ctr"/>
            <a:r>
              <a:rPr lang="es-CO" sz="1500" b="1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[Nombre Completo del Autor/a]</a:t>
            </a:r>
          </a:p>
          <a:p>
            <a:pPr algn="ctr"/>
            <a:r>
              <a:rPr lang="es-CO" sz="1200" b="0" dirty="0">
                <a:solidFill>
                  <a:srgbClr val="B3E5FC"/>
                </a:solidFill>
                <a:latin typeface="Bricolage Grotesque 18pt Conden"/>
                <a:ea typeface="Bricolage Grotesque 18pt Conden"/>
              </a:rPr>
              <a:t>Facultad de Ciencias de la Educación</a:t>
            </a:r>
          </a:p>
        </a:txBody>
      </p:sp>
      <p:sp>
        <p:nvSpPr>
          <p:cNvPr id="13" name="Institucion"/>
          <p:cNvSpPr txBox="1"/>
          <p:nvPr/>
        </p:nvSpPr>
        <p:spPr>
          <a:xfrm>
            <a:off x="3246046" y="5350000"/>
            <a:ext cx="5699907" cy="700000"/>
          </a:xfrm>
          <a:prstGeom prst="rect">
            <a:avLst/>
          </a:prstGeom>
          <a:noFill/>
        </p:spPr>
        <a:txBody>
          <a:bodyPr wrap="square" rtlCol="0">
            <a:spAutoFit/>
          </a:bodyPr>
          <a:lstStyle/>
          <a:p>
            <a:pPr algn="ctr"/>
            <a:r>
              <a:rPr lang="es-CO" sz="1200" b="0" dirty="0">
                <a:solidFill>
                  <a:srgbClr val="B3E5FC"/>
                </a:solidFill>
                <a:latin typeface="Bricolage Grotesque 18pt Conden"/>
                <a:ea typeface="Bricolage Grotesque 18pt Conden"/>
              </a:rPr>
              <a:t>[Universidad / Institución]</a:t>
            </a:r>
          </a:p>
        </a:txBody>
      </p:sp>
    </p:spTree>
  </p:cSld>
  <p:extLst>
    <p:ext uri="{BB962C8B-B14F-4D97-AF65-F5344CB8AC3E}">
      <p14:creationId xmlns:p14="http://schemas.microsoft.com/office/powerpoint/2010/main" val="1234567890"/>
    </p:ext>
  </p:extLst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cion"/>
          <p:cNvSpPr txBox="1"/>
          <p:nvPr/>
        </p:nvSpPr>
        <p:spPr>
          <a:xfrm>
            <a:off x="896233" y="563174"/>
            <a:ext cx="4000000" cy="420000"/>
          </a:xfrm>
          <a:prstGeom prst="rect">
            <a:avLst/>
          </a:prstGeom>
          <a:noFill/>
        </p:spPr>
        <a:txBody>
          <a:bodyPr wrap="square" rtlCol="0">
            <a:spAutoFit/>
          </a:bodyPr>
          <a:lstStyle/>
          <a:p>
            <a:pPr algn="l"/>
            <a:r>
              <a:rPr lang="es-CO" sz="1400" b="0" dirty="0">
                <a:solidFill>
                  <a:srgbClr val="FFD600"/>
                </a:solidFill>
                <a:latin typeface="Roboto Condensed Light"/>
                <a:ea typeface="Roboto Condensed Light"/>
              </a:rPr>
              <a:t>Estructura de la Presentación</a:t>
            </a:r>
          </a:p>
        </a:txBody>
      </p:sp>
      <p:sp>
        <p:nvSpPr>
          <p:cNvPr id="6" name="Titulo"/>
          <p:cNvSpPr txBox="1"/>
          <p:nvPr/>
        </p:nvSpPr>
        <p:spPr>
          <a:xfrm>
            <a:off x="896233" y="980000"/>
            <a:ext cx="10500000" cy="550000"/>
          </a:xfrm>
          <a:prstGeom prst="rect">
            <a:avLst/>
          </a:prstGeom>
          <a:noFill/>
        </p:spPr>
        <a:txBody>
          <a:bodyPr wrap="square" rtlCol="0">
            <a:spAutoFit/>
          </a:bodyPr>
          <a:lstStyle/>
          <a:p>
            <a:pPr algn="l"/>
            <a:r>
              <a:rPr lang="es-CO" sz="2800" b="1" dirty="0">
                <a:solidFill>
                  <a:srgbClr val="FFFFFF"/>
                </a:solidFill>
                <a:latin typeface="Roboto Condensed"/>
                <a:ea typeface="Roboto Condensed"/>
              </a:rPr>
              <a:t>Agenda</a:t>
            </a:r>
          </a:p>
        </a:txBody>
      </p:sp>
      <p:sp>
        <p:nvSpPr>
          <p:cNvPr id="7" name="Contenido"/>
          <p:cNvSpPr txBox="1"/>
          <p:nvPr/>
        </p:nvSpPr>
        <p:spPr>
          <a:xfrm>
            <a:off x="896233" y="1620000"/>
            <a:ext cx="10500000" cy="4900000"/>
          </a:xfrm>
          <a:prstGeom prst="rect">
            <a:avLst/>
          </a:prstGeom>
          <a:noFill/>
        </p:spPr>
        <a:txBody>
          <a:bodyPr wrap="square" rtlCol="0">
            <a:spAutoFit/>
          </a:bodyPr>
          <a:lstStyle/>
          <a:p>
            <a:pPr algn="l"/>
            <a:r>
              <a:rPr lang="es-CO" sz="1600" b="1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Contexto y Problemática</a:t>
            </a:r>
          </a:p>
          <a:p>
            <a:pPr algn="l"/>
            <a:r>
              <a:rPr lang="es-CO" sz="1600" b="1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Objetivo de Investigación</a:t>
            </a:r>
          </a:p>
          <a:p>
            <a:pPr algn="l"/>
            <a:r>
              <a:rPr lang="es-CO" sz="1600" b="1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Marco Teórico: IA en Educación</a:t>
            </a:r>
          </a:p>
          <a:p>
            <a:pPr algn="l"/>
            <a:r>
              <a:rPr lang="es-CO" sz="1600" b="1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Arquitectura del Sistema</a:t>
            </a:r>
          </a:p>
          <a:p>
            <a:pPr algn="l"/>
            <a:r>
              <a:rPr lang="es-CO" sz="1600" b="1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Módulo Chatbot Conversacional</a:t>
            </a:r>
          </a:p>
          <a:p>
            <a:pPr algn="l"/>
            <a:r>
              <a:rPr lang="es-CO" sz="1600" b="1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Módulo Reconocimiento de Imágenes</a:t>
            </a:r>
          </a:p>
          <a:p>
            <a:pPr algn="l"/>
            <a:r>
              <a:rPr lang="es-CO" sz="1600" b="1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Funcionalidades Adicionales</a:t>
            </a:r>
          </a:p>
          <a:p>
            <a:pPr algn="l"/>
            <a:r>
              <a:rPr lang="es-CO" sz="1600" b="1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Prototipo Funcional</a:t>
            </a:r>
          </a:p>
          <a:p>
            <a:pPr algn="l"/>
            <a:r>
              <a:rPr lang="es-CO" sz="1600" b="1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Metodología de Evaluación</a:t>
            </a:r>
          </a:p>
          <a:p>
            <a:pPr algn="l"/>
            <a:r>
              <a:rPr lang="es-CO" sz="1600" b="1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Resultados Esperados y Conclusiones</a:t>
            </a:r>
          </a:p>
        </a:txBody>
      </p:sp>
    </p:spTree>
  </p:cSld>
  <p:extLst>
    <p:ext uri="{BB962C8B-B14F-4D97-AF65-F5344CB8AC3E}">
      <p14:creationId xmlns:p14="http://schemas.microsoft.com/office/powerpoint/2010/main" val="1234567890"/>
    </p:ext>
  </p:extLst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cion"/>
          <p:cNvSpPr txBox="1"/>
          <p:nvPr/>
        </p:nvSpPr>
        <p:spPr>
          <a:xfrm>
            <a:off x="896233" y="563174"/>
            <a:ext cx="4000000" cy="420000"/>
          </a:xfrm>
          <a:prstGeom prst="rect">
            <a:avLst/>
          </a:prstGeom>
          <a:noFill/>
        </p:spPr>
        <a:txBody>
          <a:bodyPr wrap="square" rtlCol="0">
            <a:spAutoFit/>
          </a:bodyPr>
          <a:lstStyle/>
          <a:p>
            <a:pPr algn="l"/>
            <a:r>
              <a:rPr lang="es-CO" sz="1400" b="0" dirty="0">
                <a:solidFill>
                  <a:srgbClr val="FFD600"/>
                </a:solidFill>
                <a:latin typeface="Roboto Condensed Light"/>
                <a:ea typeface="Roboto Condensed Light"/>
              </a:rPr>
              <a:t>Contexto y Problemática</a:t>
            </a:r>
          </a:p>
        </a:txBody>
      </p:sp>
      <p:sp>
        <p:nvSpPr>
          <p:cNvPr id="6" name="Titulo"/>
          <p:cNvSpPr txBox="1"/>
          <p:nvPr/>
        </p:nvSpPr>
        <p:spPr>
          <a:xfrm>
            <a:off x="896233" y="980000"/>
            <a:ext cx="10500000" cy="550000"/>
          </a:xfrm>
          <a:prstGeom prst="rect">
            <a:avLst/>
          </a:prstGeom>
          <a:noFill/>
        </p:spPr>
        <a:txBody>
          <a:bodyPr wrap="square" rtlCol="0">
            <a:spAutoFit/>
          </a:bodyPr>
          <a:lstStyle/>
          <a:p>
            <a:pPr algn="l"/>
            <a:r>
              <a:rPr lang="es-CO" sz="2800" b="1" dirty="0">
                <a:solidFill>
                  <a:srgbClr val="FFFFFF"/>
                </a:solidFill>
                <a:latin typeface="Roboto Condensed"/>
                <a:ea typeface="Roboto Condensed"/>
              </a:rPr>
              <a:t>¿Por qué esta investigación?</a:t>
            </a:r>
          </a:p>
        </a:txBody>
      </p:sp>
      <p:sp>
        <p:nvSpPr>
          <p:cNvPr id="7" name="Contenido"/>
          <p:cNvSpPr txBox="1"/>
          <p:nvPr/>
        </p:nvSpPr>
        <p:spPr>
          <a:xfrm>
            <a:off x="896233" y="1620000"/>
            <a:ext cx="10500000" cy="4900000"/>
          </a:xfrm>
          <a:prstGeom prst="rect">
            <a:avLst/>
          </a:prstGeom>
          <a:noFill/>
        </p:spPr>
        <a:txBody>
          <a:bodyPr wrap="square" rtlCol="0">
            <a:spAutoFit/>
          </a:bodyPr>
          <a:lstStyle/>
          <a:p>
            <a:pPr algn="l"/>
            <a:r>
              <a:rPr lang="es-CO" sz="1600" b="1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La educación secundaria enfrenta desafíos en la enseñanza de ciencias naturales</a:t>
            </a:r>
          </a:p>
          <a:p>
            <a:pPr algn="l"/>
            <a:r>
              <a:rPr lang="es-CO" sz="1600" b="1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Escasez de materiales interactivos y personalizados para biología celular</a:t>
            </a:r>
          </a:p>
          <a:p>
            <a:pPr algn="l"/>
            <a:r>
              <a:rPr lang="es-CO" sz="1600" b="1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Los estudiantes demandan experiencias de aprendizaje digitales e inmersivas</a:t>
            </a:r>
          </a:p>
          <a:p>
            <a:pPr algn="l"/>
            <a:r>
              <a:rPr lang="es-CO" sz="1600" b="1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La IA generativa ofrece oportunidades sin precedentes en educación</a:t>
            </a:r>
          </a:p>
          <a:p>
            <a:pPr algn="l"/>
            <a:r>
              <a:rPr lang="es-CO" sz="1400" b="0" dirty="0">
                <a:solidFill>
                  <a:srgbClr val="B3E5FC"/>
                </a:solidFill>
                <a:latin typeface="Bricolage Grotesque 18pt Conden"/>
                <a:ea typeface="Bricolage Grotesque 18pt Conden"/>
              </a:rPr>
              <a:t>  – Los chatbots educativos mejoran la interacción y retroalimentación</a:t>
            </a:r>
          </a:p>
          <a:p>
            <a:pPr algn="l"/>
            <a:r>
              <a:rPr lang="es-CO" sz="1400" b="0" dirty="0">
                <a:solidFill>
                  <a:srgbClr val="B3E5FC"/>
                </a:solidFill>
                <a:latin typeface="Bricolage Grotesque 18pt Conden"/>
                <a:ea typeface="Bricolage Grotesque 18pt Conden"/>
              </a:rPr>
              <a:t>  – El reconocimiento visual facilita el aprendizaje contextualizado</a:t>
            </a:r>
          </a:p>
          <a:p>
            <a:pPr algn="l"/>
            <a:r>
              <a:rPr lang="es-CO" sz="1600" b="1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Necesidad de herramientas que funcionen en entornos con conectividad variable</a:t>
            </a:r>
          </a:p>
        </a:txBody>
      </p:sp>
    </p:spTree>
  </p:cSld>
  <p:extLst>
    <p:ext uri="{BB962C8B-B14F-4D97-AF65-F5344CB8AC3E}">
      <p14:creationId xmlns:p14="http://schemas.microsoft.com/office/powerpoint/2010/main" val="1234567890"/>
    </p:ext>
  </p:extLst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cion"/>
          <p:cNvSpPr txBox="1"/>
          <p:nvPr/>
        </p:nvSpPr>
        <p:spPr>
          <a:xfrm>
            <a:off x="896233" y="563174"/>
            <a:ext cx="4000000" cy="420000"/>
          </a:xfrm>
          <a:prstGeom prst="rect">
            <a:avLst/>
          </a:prstGeom>
          <a:noFill/>
        </p:spPr>
        <a:txBody>
          <a:bodyPr wrap="square" rtlCol="0">
            <a:spAutoFit/>
          </a:bodyPr>
          <a:lstStyle/>
          <a:p>
            <a:pPr algn="l"/>
            <a:r>
              <a:rPr lang="es-CO" sz="1400" b="0" dirty="0">
                <a:solidFill>
                  <a:srgbClr val="FFD600"/>
                </a:solidFill>
                <a:latin typeface="Roboto Condensed Light"/>
                <a:ea typeface="Roboto Condensed Light"/>
              </a:rPr>
              <a:t>Objetivo de Investigación</a:t>
            </a:r>
          </a:p>
        </a:txBody>
      </p:sp>
      <p:sp>
        <p:nvSpPr>
          <p:cNvPr id="6" name="Titulo"/>
          <p:cNvSpPr txBox="1"/>
          <p:nvPr/>
        </p:nvSpPr>
        <p:spPr>
          <a:xfrm>
            <a:off x="896233" y="980000"/>
            <a:ext cx="10500000" cy="550000"/>
          </a:xfrm>
          <a:prstGeom prst="rect">
            <a:avLst/>
          </a:prstGeom>
          <a:noFill/>
        </p:spPr>
        <a:txBody>
          <a:bodyPr wrap="square" rtlCol="0">
            <a:spAutoFit/>
          </a:bodyPr>
          <a:lstStyle/>
          <a:p>
            <a:pPr algn="l"/>
            <a:r>
              <a:rPr lang="es-CO" sz="2800" b="1" dirty="0">
                <a:solidFill>
                  <a:srgbClr val="FFFFFF"/>
                </a:solidFill>
                <a:latin typeface="Roboto Condensed"/>
                <a:ea typeface="Roboto Condensed"/>
              </a:rPr>
              <a:t>Objetivo General</a:t>
            </a:r>
          </a:p>
        </a:txBody>
      </p:sp>
      <p:sp>
        <p:nvSpPr>
          <p:cNvPr id="7" name="Contenido"/>
          <p:cNvSpPr txBox="1"/>
          <p:nvPr/>
        </p:nvSpPr>
        <p:spPr>
          <a:xfrm>
            <a:off x="896233" y="1620000"/>
            <a:ext cx="10500000" cy="4900000"/>
          </a:xfrm>
          <a:prstGeom prst="rect">
            <a:avLst/>
          </a:prstGeom>
          <a:noFill/>
        </p:spPr>
        <a:txBody>
          <a:bodyPr wrap="square" rtlCol="0">
            <a:spAutoFit/>
          </a:bodyPr>
          <a:lstStyle/>
          <a:p>
            <a:pPr algn="l"/>
            <a:r>
              <a:rPr lang="es-CO" sz="1600" b="1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Diseñar y desarrollar una aplicación móvil educativa que integre:</a:t>
            </a:r>
          </a:p>
          <a:p>
            <a:pPr algn="l"/>
            <a:r>
              <a:rPr lang="es-CO" sz="1400" b="0" dirty="0">
                <a:solidFill>
                  <a:srgbClr val="B3E5FC"/>
                </a:solidFill>
                <a:latin typeface="Bricolage Grotesque 18pt Conden"/>
                <a:ea typeface="Bricolage Grotesque 18pt Conden"/>
              </a:rPr>
              <a:t>  – Un chatbot conversacional con inyección de contexto curricular</a:t>
            </a:r>
          </a:p>
          <a:p>
            <a:pPr algn="l"/>
            <a:r>
              <a:rPr lang="es-CO" sz="1400" b="0" dirty="0">
                <a:solidFill>
                  <a:srgbClr val="B3E5FC"/>
                </a:solidFill>
                <a:latin typeface="Bricolage Grotesque 18pt Conden"/>
                <a:ea typeface="Bricolage Grotesque 18pt Conden"/>
              </a:rPr>
              <a:t>  – Un sistema de reconocimiento de imágenes para estructuras biológicas</a:t>
            </a:r>
          </a:p>
          <a:p>
            <a:pPr algn="l"/>
            <a:r>
              <a:rPr lang="es-CO" sz="1600" b="1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Orientada a la enseñanza de biología celular en educación secundaria</a:t>
            </a:r>
          </a:p>
          <a:p>
            <a:pPr algn="l"/>
            <a:r>
              <a:rPr lang="es-CO" sz="1600" b="1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Evaluar la usabilidad y experiencia de usuario mediante estudio de caso</a:t>
            </a:r>
          </a:p>
          <a:p>
            <a:pPr algn="l"/>
            <a:r>
              <a:rPr lang="es-CO" sz="1600" b="1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Contribuir al diseño de soluciones móviles inteligentes centradas en el estudiante</a:t>
            </a:r>
          </a:p>
        </a:txBody>
      </p:sp>
    </p:spTree>
  </p:cSld>
  <p:extLst>
    <p:ext uri="{BB962C8B-B14F-4D97-AF65-F5344CB8AC3E}">
      <p14:creationId xmlns:p14="http://schemas.microsoft.com/office/powerpoint/2010/main" val="1234567890"/>
    </p:ext>
  </p:extLst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cion"/>
          <p:cNvSpPr txBox="1"/>
          <p:nvPr/>
        </p:nvSpPr>
        <p:spPr>
          <a:xfrm>
            <a:off x="896233" y="563174"/>
            <a:ext cx="4000000" cy="420000"/>
          </a:xfrm>
          <a:prstGeom prst="rect">
            <a:avLst/>
          </a:prstGeom>
          <a:noFill/>
        </p:spPr>
        <a:txBody>
          <a:bodyPr wrap="square" rtlCol="0">
            <a:spAutoFit/>
          </a:bodyPr>
          <a:lstStyle/>
          <a:p>
            <a:pPr algn="l"/>
            <a:r>
              <a:rPr lang="es-CO" sz="1400" b="0" dirty="0">
                <a:solidFill>
                  <a:srgbClr val="FFD600"/>
                </a:solidFill>
                <a:latin typeface="Roboto Condensed Light"/>
                <a:ea typeface="Roboto Condensed Light"/>
              </a:rPr>
              <a:t>Marco Teórico</a:t>
            </a:r>
          </a:p>
        </a:txBody>
      </p:sp>
      <p:sp>
        <p:nvSpPr>
          <p:cNvPr id="6" name="Titulo"/>
          <p:cNvSpPr txBox="1"/>
          <p:nvPr/>
        </p:nvSpPr>
        <p:spPr>
          <a:xfrm>
            <a:off x="896233" y="980000"/>
            <a:ext cx="10500000" cy="550000"/>
          </a:xfrm>
          <a:prstGeom prst="rect">
            <a:avLst/>
          </a:prstGeom>
          <a:noFill/>
        </p:spPr>
        <a:txBody>
          <a:bodyPr wrap="square" rtlCol="0">
            <a:spAutoFit/>
          </a:bodyPr>
          <a:lstStyle/>
          <a:p>
            <a:pPr algn="l"/>
            <a:r>
              <a:rPr lang="es-CO" sz="2800" b="1" dirty="0">
                <a:solidFill>
                  <a:srgbClr val="FFFFFF"/>
                </a:solidFill>
                <a:latin typeface="Roboto Condensed"/>
                <a:ea typeface="Roboto Condensed"/>
              </a:rPr>
              <a:t>Fundamentos Conceptuales</a:t>
            </a:r>
          </a:p>
        </a:txBody>
      </p:sp>
      <p:sp>
        <p:nvSpPr>
          <p:cNvPr id="7" name="Col1"/>
          <p:cNvSpPr txBox="1"/>
          <p:nvPr/>
        </p:nvSpPr>
        <p:spPr>
          <a:xfrm>
            <a:off x="896233" y="1620000"/>
            <a:ext cx="4900000" cy="4900000"/>
          </a:xfrm>
          <a:prstGeom prst="rect">
            <a:avLst/>
          </a:prstGeom>
          <a:noFill/>
        </p:spPr>
        <a:txBody>
          <a:bodyPr wrap="square" rtlCol="0">
            <a:spAutoFit/>
          </a:bodyPr>
          <a:lstStyle/>
          <a:p>
            <a:pPr algn="l"/>
            <a:r>
              <a:rPr lang="es-CO" sz="1800" b="1" dirty="0">
                <a:solidFill>
                  <a:srgbClr val="FFD600"/>
                </a:solidFill>
                <a:latin typeface="Roboto Condensed"/>
                <a:ea typeface="Roboto Condensed"/>
              </a:rPr>
              <a:t>IA en Educación</a:t>
            </a:r>
          </a:p>
          <a:p>
            <a:pPr algn="l"/>
            <a:r>
              <a:rPr lang="es-CO" sz="1500" b="0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Tecnología Educativa y m-Learning</a:t>
            </a:r>
          </a:p>
          <a:p>
            <a:pPr algn="l"/>
            <a:r>
              <a:rPr lang="es-CO" sz="1500" b="0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Sistemas de Tutoría Inteligente (ITS)</a:t>
            </a:r>
          </a:p>
          <a:p>
            <a:pPr algn="l"/>
            <a:r>
              <a:rPr lang="es-CO" sz="1500" b="0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Modelos de Lenguaje Grande (LLM)</a:t>
            </a:r>
          </a:p>
          <a:p>
            <a:pPr algn="l"/>
            <a:r>
              <a:rPr lang="es-CO" sz="1500" b="0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Gamificación en contextos educativos</a:t>
            </a:r>
          </a:p>
          <a:p>
            <a:pPr algn="l"/>
            <a:r>
              <a:rPr lang="es-CO" sz="1500" b="0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Aprendizaje personalizado con IA</a:t>
            </a:r>
          </a:p>
        </a:txBody>
      </p:sp>
      <p:sp>
        <p:nvSpPr>
          <p:cNvPr id="8" name="Col2"/>
          <p:cNvSpPr txBox="1"/>
          <p:nvPr/>
        </p:nvSpPr>
        <p:spPr>
          <a:xfrm>
            <a:off x="6196233" y="1620000"/>
            <a:ext cx="5100000" cy="4900000"/>
          </a:xfrm>
          <a:prstGeom prst="rect">
            <a:avLst/>
          </a:prstGeom>
          <a:noFill/>
        </p:spPr>
        <a:txBody>
          <a:bodyPr wrap="square" rtlCol="0">
            <a:spAutoFit/>
          </a:bodyPr>
          <a:lstStyle/>
          <a:p>
            <a:pPr algn="l"/>
            <a:r>
              <a:rPr lang="es-CO" sz="1800" b="1" dirty="0">
                <a:solidFill>
                  <a:srgbClr val="FFD600"/>
                </a:solidFill>
                <a:latin typeface="Roboto Condensed"/>
                <a:ea typeface="Roboto Condensed"/>
              </a:rPr>
              <a:t>Reconocimiento Visual</a:t>
            </a:r>
          </a:p>
          <a:p>
            <a:pPr algn="l"/>
            <a:r>
              <a:rPr lang="es-CO" sz="1500" b="0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Visión por Computador aplicada a educación</a:t>
            </a:r>
          </a:p>
          <a:p>
            <a:pPr algn="l"/>
            <a:r>
              <a:rPr lang="es-CO" sz="1500" b="0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Redes Neuronales Convolucionales (CNN)</a:t>
            </a:r>
          </a:p>
          <a:p>
            <a:pPr algn="l"/>
            <a:r>
              <a:rPr lang="es-CO" sz="1500" b="0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Transfer Learning con MobileNet V2</a:t>
            </a:r>
          </a:p>
          <a:p>
            <a:pPr algn="l"/>
            <a:r>
              <a:rPr lang="es-CO" sz="1500" b="0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Gemini Vision API para análisis multimodal</a:t>
            </a:r>
          </a:p>
          <a:p>
            <a:pPr algn="l"/>
            <a:r>
              <a:rPr lang="es-CO" sz="1500" b="0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Realidad Aumentada en educación STEM</a:t>
            </a:r>
          </a:p>
        </a:txBody>
      </p:sp>
    </p:spTree>
  </p:cSld>
  <p:extLst>
    <p:ext uri="{BB962C8B-B14F-4D97-AF65-F5344CB8AC3E}">
      <p14:creationId xmlns:p14="http://schemas.microsoft.com/office/powerpoint/2010/main" val="1234567890"/>
    </p:ext>
  </p:extLst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cion"/>
          <p:cNvSpPr txBox="1"/>
          <p:nvPr/>
        </p:nvSpPr>
        <p:spPr>
          <a:xfrm>
            <a:off x="896233" y="563174"/>
            <a:ext cx="4000000" cy="420000"/>
          </a:xfrm>
          <a:prstGeom prst="rect">
            <a:avLst/>
          </a:prstGeom>
          <a:noFill/>
        </p:spPr>
        <a:txBody>
          <a:bodyPr wrap="square" rtlCol="0">
            <a:spAutoFit/>
          </a:bodyPr>
          <a:lstStyle/>
          <a:p>
            <a:pPr algn="l"/>
            <a:r>
              <a:rPr lang="es-CO" sz="1400" b="0" dirty="0">
                <a:solidFill>
                  <a:srgbClr val="FFD600"/>
                </a:solidFill>
                <a:latin typeface="Roboto Condensed Light"/>
                <a:ea typeface="Roboto Condensed Light"/>
              </a:rPr>
              <a:t>Arquitectura del Sistema</a:t>
            </a:r>
          </a:p>
        </a:txBody>
      </p:sp>
      <p:sp>
        <p:nvSpPr>
          <p:cNvPr id="6" name="Titulo"/>
          <p:cNvSpPr txBox="1"/>
          <p:nvPr/>
        </p:nvSpPr>
        <p:spPr>
          <a:xfrm>
            <a:off x="896233" y="980000"/>
            <a:ext cx="10500000" cy="550000"/>
          </a:xfrm>
          <a:prstGeom prst="rect">
            <a:avLst/>
          </a:prstGeom>
          <a:noFill/>
        </p:spPr>
        <a:txBody>
          <a:bodyPr wrap="square" rtlCol="0">
            <a:spAutoFit/>
          </a:bodyPr>
          <a:lstStyle/>
          <a:p>
            <a:pPr algn="l"/>
            <a:r>
              <a:rPr lang="es-CO" sz="2800" b="1" dirty="0">
                <a:solidFill>
                  <a:srgbClr val="FFFFFF"/>
                </a:solidFill>
                <a:latin typeface="Roboto Condensed"/>
                <a:ea typeface="Roboto Condensed"/>
              </a:rPr>
              <a:t>Diseño Tecnológico</a:t>
            </a:r>
          </a:p>
        </a:txBody>
      </p:sp>
      <p:sp>
        <p:nvSpPr>
          <p:cNvPr id="7" name="Contenido"/>
          <p:cNvSpPr txBox="1"/>
          <p:nvPr/>
        </p:nvSpPr>
        <p:spPr>
          <a:xfrm>
            <a:off x="896233" y="1620000"/>
            <a:ext cx="10500000" cy="4900000"/>
          </a:xfrm>
          <a:prstGeom prst="rect">
            <a:avLst/>
          </a:prstGeom>
          <a:noFill/>
        </p:spPr>
        <a:txBody>
          <a:bodyPr wrap="square" rtlCol="0">
            <a:spAutoFit/>
          </a:bodyPr>
          <a:lstStyle/>
          <a:p>
            <a:pPr algn="l"/>
            <a:r>
              <a:rPr lang="es-CO" sz="1600" b="1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Flutter (Dart) — Framework multiplataforma Android/iOS</a:t>
            </a:r>
          </a:p>
          <a:p>
            <a:pPr algn="l"/>
            <a:r>
              <a:rPr lang="es-CO" sz="1600" b="1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Firebase Authentication — Autenticación con Google Sign-In</a:t>
            </a:r>
          </a:p>
          <a:p>
            <a:pPr algn="l"/>
            <a:r>
              <a:rPr lang="es-CO" sz="1600" b="1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Cloud Firestore — Base de datos en tiempo real</a:t>
            </a:r>
          </a:p>
          <a:p>
            <a:pPr algn="l"/>
            <a:r>
              <a:rPr lang="es-CO" sz="1400" b="0" dirty="0">
                <a:solidFill>
                  <a:srgbClr val="B3E5FC"/>
                </a:solidFill>
                <a:latin typeface="Bricolage Grotesque 18pt Conden"/>
                <a:ea typeface="Bricolage Grotesque 18pt Conden"/>
              </a:rPr>
              <a:t>  – Perfiles de usuario, progreso, logros, sesiones de chat</a:t>
            </a:r>
          </a:p>
          <a:p>
            <a:pPr algn="l"/>
            <a:r>
              <a:rPr lang="es-CO" sz="1600" b="1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Groq API (llama-3.3-70b) — Generación de quizzes y chatbot</a:t>
            </a:r>
          </a:p>
          <a:p>
            <a:pPr algn="l"/>
            <a:r>
              <a:rPr lang="es-CO" sz="1600" b="1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Gemini Vision API — Reconocimiento de imágenes primario</a:t>
            </a:r>
          </a:p>
          <a:p>
            <a:pPr algn="l"/>
            <a:r>
              <a:rPr lang="es-CO" sz="1600" b="1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TFLite MobileNet V2 — Reconocimiento local (modo offline)</a:t>
            </a:r>
          </a:p>
          <a:p>
            <a:pPr algn="l"/>
            <a:r>
              <a:rPr lang="es-CO" sz="1600" b="1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Material 3 + Google Fonts (Poppins) — Diseño visual</a:t>
            </a:r>
          </a:p>
        </a:txBody>
      </p:sp>
    </p:spTree>
  </p:cSld>
  <p:extLst>
    <p:ext uri="{BB962C8B-B14F-4D97-AF65-F5344CB8AC3E}">
      <p14:creationId xmlns:p14="http://schemas.microsoft.com/office/powerpoint/2010/main" val="1234567890"/>
    </p:ext>
  </p:extLst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cion"/>
          <p:cNvSpPr txBox="1"/>
          <p:nvPr/>
        </p:nvSpPr>
        <p:spPr>
          <a:xfrm>
            <a:off x="896233" y="563174"/>
            <a:ext cx="4000000" cy="420000"/>
          </a:xfrm>
          <a:prstGeom prst="rect">
            <a:avLst/>
          </a:prstGeom>
          <a:noFill/>
        </p:spPr>
        <a:txBody>
          <a:bodyPr wrap="square" rtlCol="0">
            <a:spAutoFit/>
          </a:bodyPr>
          <a:lstStyle/>
          <a:p>
            <a:pPr algn="l"/>
            <a:r>
              <a:rPr lang="es-CO" sz="1400" b="0" dirty="0">
                <a:solidFill>
                  <a:srgbClr val="FFD600"/>
                </a:solidFill>
                <a:latin typeface="Roboto Condensed Light"/>
                <a:ea typeface="Roboto Condensed Light"/>
              </a:rPr>
              <a:t>Módulo IA</a:t>
            </a:r>
          </a:p>
        </a:txBody>
      </p:sp>
      <p:sp>
        <p:nvSpPr>
          <p:cNvPr id="6" name="Titulo"/>
          <p:cNvSpPr txBox="1"/>
          <p:nvPr/>
        </p:nvSpPr>
        <p:spPr>
          <a:xfrm>
            <a:off x="896233" y="980000"/>
            <a:ext cx="10500000" cy="550000"/>
          </a:xfrm>
          <a:prstGeom prst="rect">
            <a:avLst/>
          </a:prstGeom>
          <a:noFill/>
        </p:spPr>
        <a:txBody>
          <a:bodyPr wrap="square" rtlCol="0">
            <a:spAutoFit/>
          </a:bodyPr>
          <a:lstStyle/>
          <a:p>
            <a:pPr algn="l"/>
            <a:r>
              <a:rPr lang="es-CO" sz="2800" b="1" dirty="0">
                <a:solidFill>
                  <a:srgbClr val="FFFFFF"/>
                </a:solidFill>
                <a:latin typeface="Roboto Condensed"/>
                <a:ea typeface="Roboto Condensed"/>
              </a:rPr>
              <a:t>Chatbot Conversacional</a:t>
            </a:r>
          </a:p>
        </a:txBody>
      </p:sp>
      <p:sp>
        <p:nvSpPr>
          <p:cNvPr id="7" name="Contenido"/>
          <p:cNvSpPr txBox="1"/>
          <p:nvPr/>
        </p:nvSpPr>
        <p:spPr>
          <a:xfrm>
            <a:off x="896233" y="1620000"/>
            <a:ext cx="10500000" cy="4900000"/>
          </a:xfrm>
          <a:prstGeom prst="rect">
            <a:avLst/>
          </a:prstGeom>
          <a:noFill/>
        </p:spPr>
        <a:txBody>
          <a:bodyPr wrap="square" rtlCol="0">
            <a:spAutoFit/>
          </a:bodyPr>
          <a:lstStyle/>
          <a:p>
            <a:pPr algn="l"/>
            <a:r>
              <a:rPr lang="es-CO" sz="1600" b="1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Basado en modelos de lenguaje de gran escala (LLM)</a:t>
            </a:r>
          </a:p>
          <a:p>
            <a:pPr algn="l"/>
            <a:r>
              <a:rPr lang="es-CO" sz="1600" b="1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Integración con Groq API — Modelo llama-3.3-70b-versatile</a:t>
            </a:r>
          </a:p>
          <a:p>
            <a:pPr algn="l"/>
            <a:r>
              <a:rPr lang="es-CO" sz="1600" b="1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Técnica clave: Inyección de Contexto Curricular (RAG simplificado)</a:t>
            </a:r>
          </a:p>
          <a:p>
            <a:pPr algn="l"/>
            <a:r>
              <a:rPr lang="es-CO" sz="1400" b="0" dirty="0">
                <a:solidFill>
                  <a:srgbClr val="B3E5FC"/>
                </a:solidFill>
                <a:latin typeface="Bricolage Grotesque 18pt Conden"/>
                <a:ea typeface="Bricolage Grotesque 18pt Conden"/>
              </a:rPr>
              <a:t>  – El chatbot recibe el contenido del subtema activo como contexto</a:t>
            </a:r>
          </a:p>
          <a:p>
            <a:pPr algn="l"/>
            <a:r>
              <a:rPr lang="es-CO" sz="1400" b="0" dirty="0">
                <a:solidFill>
                  <a:srgbClr val="B3E5FC"/>
                </a:solidFill>
                <a:latin typeface="Bricolage Grotesque 18pt Conden"/>
                <a:ea typeface="Bricolage Grotesque 18pt Conden"/>
              </a:rPr>
              <a:t>  – Respuestas limitadas a ciencias naturales (guardrails educativos)</a:t>
            </a:r>
          </a:p>
          <a:p>
            <a:pPr algn="l"/>
            <a:r>
              <a:rPr lang="es-CO" sz="1600" b="1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Soporte de voz: speech-to-text integrado en la interfaz</a:t>
            </a:r>
          </a:p>
          <a:p>
            <a:pPr algn="l"/>
            <a:r>
              <a:rPr lang="es-CO" sz="1600" b="1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Historial persistente de sesiones de chat en Firestore</a:t>
            </a:r>
          </a:p>
          <a:p>
            <a:pPr algn="l"/>
            <a:r>
              <a:rPr lang="es-CO" sz="1600" b="1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Sistema prompt diseñado para respetar el nivel educativo del estudiante</a:t>
            </a:r>
          </a:p>
        </a:txBody>
      </p:sp>
    </p:spTree>
  </p:cSld>
  <p:extLst>
    <p:ext uri="{BB962C8B-B14F-4D97-AF65-F5344CB8AC3E}">
      <p14:creationId xmlns:p14="http://schemas.microsoft.com/office/powerpoint/2010/main" val="1234567890"/>
    </p:ext>
  </p:extLst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cion"/>
          <p:cNvSpPr txBox="1"/>
          <p:nvPr/>
        </p:nvSpPr>
        <p:spPr>
          <a:xfrm>
            <a:off x="896233" y="563174"/>
            <a:ext cx="4000000" cy="420000"/>
          </a:xfrm>
          <a:prstGeom prst="rect">
            <a:avLst/>
          </a:prstGeom>
          <a:noFill/>
        </p:spPr>
        <a:txBody>
          <a:bodyPr wrap="square" rtlCol="0">
            <a:spAutoFit/>
          </a:bodyPr>
          <a:lstStyle/>
          <a:p>
            <a:pPr algn="l"/>
            <a:r>
              <a:rPr lang="es-CO" sz="1400" b="0" dirty="0">
                <a:solidFill>
                  <a:srgbClr val="FFD600"/>
                </a:solidFill>
                <a:latin typeface="Roboto Condensed Light"/>
                <a:ea typeface="Roboto Condensed Light"/>
              </a:rPr>
              <a:t>Módulo IA</a:t>
            </a:r>
          </a:p>
        </a:txBody>
      </p:sp>
      <p:sp>
        <p:nvSpPr>
          <p:cNvPr id="6" name="Titulo"/>
          <p:cNvSpPr txBox="1"/>
          <p:nvPr/>
        </p:nvSpPr>
        <p:spPr>
          <a:xfrm>
            <a:off x="896233" y="980000"/>
            <a:ext cx="10500000" cy="550000"/>
          </a:xfrm>
          <a:prstGeom prst="rect">
            <a:avLst/>
          </a:prstGeom>
          <a:noFill/>
        </p:spPr>
        <a:txBody>
          <a:bodyPr wrap="square" rtlCol="0">
            <a:spAutoFit/>
          </a:bodyPr>
          <a:lstStyle/>
          <a:p>
            <a:pPr algn="l"/>
            <a:r>
              <a:rPr lang="es-CO" sz="2800" b="1" dirty="0">
                <a:solidFill>
                  <a:srgbClr val="FFFFFF"/>
                </a:solidFill>
                <a:latin typeface="Roboto Condensed"/>
                <a:ea typeface="Roboto Condensed"/>
              </a:rPr>
              <a:t>Reconocimiento de Imágenes</a:t>
            </a:r>
          </a:p>
        </a:txBody>
      </p:sp>
      <p:sp>
        <p:nvSpPr>
          <p:cNvPr id="7" name="Contenido"/>
          <p:cNvSpPr txBox="1"/>
          <p:nvPr/>
        </p:nvSpPr>
        <p:spPr>
          <a:xfrm>
            <a:off x="896233" y="1620000"/>
            <a:ext cx="10500000" cy="4900000"/>
          </a:xfrm>
          <a:prstGeom prst="rect">
            <a:avLst/>
          </a:prstGeom>
          <a:noFill/>
        </p:spPr>
        <a:txBody>
          <a:bodyPr wrap="square" rtlCol="0">
            <a:spAutoFit/>
          </a:bodyPr>
          <a:lstStyle/>
          <a:p>
            <a:pPr algn="l"/>
            <a:r>
              <a:rPr lang="es-CO" sz="1600" b="1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Sistema multi-modelo con fallback automático</a:t>
            </a:r>
          </a:p>
          <a:p>
            <a:pPr algn="l"/>
            <a:r>
              <a:rPr lang="es-CO" sz="1400" b="0" dirty="0">
                <a:solidFill>
                  <a:srgbClr val="FFD600"/>
                </a:solidFill>
                <a:latin typeface="Bricolage Grotesque 18pt Conden"/>
                <a:ea typeface="Bricolage Grotesque 18pt Conden"/>
              </a:rPr>
              <a:t>  – Primario: Gemini Vision API — Mayor precisión</a:t>
            </a:r>
          </a:p>
          <a:p>
            <a:pPr algn="l"/>
            <a:r>
              <a:rPr lang="es-CO" sz="1400" b="0" dirty="0">
                <a:solidFill>
                  <a:srgbClr val="FFD600"/>
                </a:solidFill>
                <a:latin typeface="Bricolage Grotesque 18pt Conden"/>
                <a:ea typeface="Bricolage Grotesque 18pt Conden"/>
              </a:rPr>
              <a:t>  – Secundario: TFLite MobileNet V2 — Local/offline</a:t>
            </a:r>
          </a:p>
          <a:p>
            <a:pPr algn="l"/>
            <a:r>
              <a:rPr lang="es-CO" sz="1400" b="0" dirty="0">
                <a:solidFill>
                  <a:srgbClr val="FFD600"/>
                </a:solidFill>
                <a:latin typeface="Bricolage Grotesque 18pt Conden"/>
                <a:ea typeface="Bricolage Grotesque 18pt Conden"/>
              </a:rPr>
              <a:t>  – Terciario: Groq API — Generación de descripciones</a:t>
            </a:r>
          </a:p>
          <a:p>
            <a:pPr algn="l"/>
            <a:r>
              <a:rPr lang="es-CO" sz="1600" b="1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Tipos detectados: animal, planta, insecto, hongo, objeto</a:t>
            </a:r>
          </a:p>
          <a:p>
            <a:pPr algn="l"/>
            <a:r>
              <a:rPr lang="es-CO" sz="1600" b="1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Información retornada por organismo identificado:</a:t>
            </a:r>
          </a:p>
          <a:p>
            <a:pPr algn="l"/>
            <a:r>
              <a:rPr lang="es-CO" sz="1400" b="0" dirty="0">
                <a:solidFill>
                  <a:srgbClr val="B3E5FC"/>
                </a:solidFill>
                <a:latin typeface="Bricolage Grotesque 18pt Conden"/>
                <a:ea typeface="Bricolage Grotesque 18pt Conden"/>
              </a:rPr>
              <a:t>  – Nombre común y científico, descripción, hábitat, dato curioso</a:t>
            </a:r>
          </a:p>
          <a:p>
            <a:pPr algn="l"/>
            <a:r>
              <a:rPr lang="es-CO" sz="1600" b="1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Confianza del modelo expresada en porcentaje</a:t>
            </a:r>
          </a:p>
        </a:txBody>
      </p:sp>
    </p:spTree>
  </p:cSld>
  <p:extLst>
    <p:ext uri="{BB962C8B-B14F-4D97-AF65-F5344CB8AC3E}">
      <p14:creationId xmlns:p14="http://schemas.microsoft.com/office/powerpoint/2010/main" val="1234567890"/>
    </p:ext>
  </p:extLst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cion"/>
          <p:cNvSpPr txBox="1"/>
          <p:nvPr/>
        </p:nvSpPr>
        <p:spPr>
          <a:xfrm>
            <a:off x="896233" y="563174"/>
            <a:ext cx="4000000" cy="420000"/>
          </a:xfrm>
          <a:prstGeom prst="rect">
            <a:avLst/>
          </a:prstGeom>
          <a:noFill/>
        </p:spPr>
        <a:txBody>
          <a:bodyPr wrap="square" rtlCol="0">
            <a:spAutoFit/>
          </a:bodyPr>
          <a:lstStyle/>
          <a:p>
            <a:pPr algn="l"/>
            <a:r>
              <a:rPr lang="es-CO" sz="1400" b="0" dirty="0">
                <a:solidFill>
                  <a:srgbClr val="FFD600"/>
                </a:solidFill>
                <a:latin typeface="Roboto Condensed Light"/>
                <a:ea typeface="Roboto Condensed Light"/>
              </a:rPr>
              <a:t>Funcionalidades</a:t>
            </a:r>
          </a:p>
        </a:txBody>
      </p:sp>
      <p:sp>
        <p:nvSpPr>
          <p:cNvPr id="6" name="Titulo"/>
          <p:cNvSpPr txBox="1"/>
          <p:nvPr/>
        </p:nvSpPr>
        <p:spPr>
          <a:xfrm>
            <a:off x="896233" y="980000"/>
            <a:ext cx="10500000" cy="550000"/>
          </a:xfrm>
          <a:prstGeom prst="rect">
            <a:avLst/>
          </a:prstGeom>
          <a:noFill/>
        </p:spPr>
        <a:txBody>
          <a:bodyPr wrap="square" rtlCol="0">
            <a:spAutoFit/>
          </a:bodyPr>
          <a:lstStyle/>
          <a:p>
            <a:pPr algn="l"/>
            <a:r>
              <a:rPr lang="es-CO" sz="2800" b="1" dirty="0">
                <a:solidFill>
                  <a:srgbClr val="FFFFFF"/>
                </a:solidFill>
                <a:latin typeface="Roboto Condensed"/>
                <a:ea typeface="Roboto Condensed"/>
              </a:rPr>
              <a:t>Componentes del Sistema</a:t>
            </a:r>
          </a:p>
        </a:txBody>
      </p:sp>
      <p:sp>
        <p:nvSpPr>
          <p:cNvPr id="7" name="Col1"/>
          <p:cNvSpPr txBox="1"/>
          <p:nvPr/>
        </p:nvSpPr>
        <p:spPr>
          <a:xfrm>
            <a:off x="896233" y="1620000"/>
            <a:ext cx="4900000" cy="4900000"/>
          </a:xfrm>
          <a:prstGeom prst="rect">
            <a:avLst/>
          </a:prstGeom>
          <a:noFill/>
        </p:spPr>
        <a:txBody>
          <a:bodyPr wrap="square" rtlCol="0">
            <a:spAutoFit/>
          </a:bodyPr>
          <a:lstStyle/>
          <a:p>
            <a:pPr algn="l"/>
            <a:r>
              <a:rPr lang="es-CO" sz="1800" b="1" dirty="0">
                <a:solidFill>
                  <a:srgbClr val="FFD600"/>
                </a:solidFill>
                <a:latin typeface="Roboto Condensed"/>
                <a:ea typeface="Roboto Condensed"/>
              </a:rPr>
              <a:t>Aprendizaje Interactivo</a:t>
            </a:r>
          </a:p>
          <a:p>
            <a:pPr algn="l"/>
            <a:r>
              <a:rPr lang="es-CO" sz="1500" b="0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Guía de estudio: 4 subtemas de biología celular</a:t>
            </a:r>
          </a:p>
          <a:p>
            <a:pPr algn="l"/>
            <a:r>
              <a:rPr lang="es-CO" sz="1500" b="0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Contenido multimedia: texto, imágenes, videos</a:t>
            </a:r>
          </a:p>
          <a:p>
            <a:pPr algn="l"/>
            <a:r>
              <a:rPr lang="es-CO" sz="1500" b="0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Secciones '¿Sabías que?' para motivación</a:t>
            </a:r>
          </a:p>
          <a:p>
            <a:pPr algn="l"/>
            <a:r>
              <a:rPr lang="es-CO" sz="1500" b="0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Glosario interactivo con 5 categorías</a:t>
            </a:r>
          </a:p>
          <a:p>
            <a:pPr algn="l"/>
            <a:r>
              <a:rPr lang="es-CO" sz="1500" b="0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Realidad Aumentada (AR) con marcadores</a:t>
            </a:r>
          </a:p>
        </a:txBody>
      </p:sp>
      <p:sp>
        <p:nvSpPr>
          <p:cNvPr id="8" name="Col2"/>
          <p:cNvSpPr txBox="1"/>
          <p:nvPr/>
        </p:nvSpPr>
        <p:spPr>
          <a:xfrm>
            <a:off x="6196233" y="1620000"/>
            <a:ext cx="5100000" cy="4900000"/>
          </a:xfrm>
          <a:prstGeom prst="rect">
            <a:avLst/>
          </a:prstGeom>
          <a:noFill/>
        </p:spPr>
        <a:txBody>
          <a:bodyPr wrap="square" rtlCol="0">
            <a:spAutoFit/>
          </a:bodyPr>
          <a:lstStyle/>
          <a:p>
            <a:pPr algn="l"/>
            <a:r>
              <a:rPr lang="es-CO" sz="1800" b="1" dirty="0">
                <a:solidFill>
                  <a:srgbClr val="FFD600"/>
                </a:solidFill>
                <a:latin typeface="Roboto Condensed"/>
                <a:ea typeface="Roboto Condensed"/>
              </a:rPr>
              <a:t>Gamificación y Evaluación</a:t>
            </a:r>
          </a:p>
          <a:p>
            <a:pPr algn="l"/>
            <a:r>
              <a:rPr lang="es-CO" sz="1500" b="0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Sistema de XP y niveles de progreso</a:t>
            </a:r>
          </a:p>
          <a:p>
            <a:pPr algn="l"/>
            <a:r>
              <a:rPr lang="es-CO" sz="1500" b="0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5 logros desbloqueables por hitos</a:t>
            </a:r>
          </a:p>
          <a:p>
            <a:pPr algn="l"/>
            <a:r>
              <a:rPr lang="es-CO" sz="1500" b="0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Racha de estudio diaria</a:t>
            </a:r>
          </a:p>
          <a:p>
            <a:pPr algn="l"/>
            <a:r>
              <a:rPr lang="es-CO" sz="1500" b="0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Quizzes generados por IA (3 niveles)</a:t>
            </a:r>
          </a:p>
          <a:p>
            <a:pPr algn="l"/>
            <a:r>
              <a:rPr lang="es-CO" sz="1500" b="0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Perfil con estadísticas de aprendizaje</a:t>
            </a:r>
          </a:p>
        </a:txBody>
      </p:sp>
    </p:spTree>
  </p:cSld>
  <p:extLst>
    <p:ext uri="{BB962C8B-B14F-4D97-AF65-F5344CB8AC3E}">
      <p14:creationId xmlns:p14="http://schemas.microsoft.com/office/powerpoint/2010/main" val="1234567890"/>
    </p:ext>
  </p:extLst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cion"/>
          <p:cNvSpPr txBox="1"/>
          <p:nvPr/>
        </p:nvSpPr>
        <p:spPr>
          <a:xfrm>
            <a:off x="896233" y="563174"/>
            <a:ext cx="4000000" cy="420000"/>
          </a:xfrm>
          <a:prstGeom prst="rect">
            <a:avLst/>
          </a:prstGeom>
          <a:noFill/>
        </p:spPr>
        <a:txBody>
          <a:bodyPr wrap="square" rtlCol="0">
            <a:spAutoFit/>
          </a:bodyPr>
          <a:lstStyle/>
          <a:p>
            <a:pPr algn="l"/>
            <a:r>
              <a:rPr lang="es-CO" sz="1400" b="0" dirty="0">
                <a:solidFill>
                  <a:srgbClr val="FFD600"/>
                </a:solidFill>
                <a:latin typeface="Roboto Condensed Light"/>
                <a:ea typeface="Roboto Condensed Light"/>
              </a:rPr>
              <a:t>Estado Actual</a:t>
            </a:r>
          </a:p>
        </a:txBody>
      </p:sp>
      <p:sp>
        <p:nvSpPr>
          <p:cNvPr id="6" name="Titulo"/>
          <p:cNvSpPr txBox="1"/>
          <p:nvPr/>
        </p:nvSpPr>
        <p:spPr>
          <a:xfrm>
            <a:off x="896233" y="980000"/>
            <a:ext cx="10500000" cy="550000"/>
          </a:xfrm>
          <a:prstGeom prst="rect">
            <a:avLst/>
          </a:prstGeom>
          <a:noFill/>
        </p:spPr>
        <a:txBody>
          <a:bodyPr wrap="square" rtlCol="0">
            <a:spAutoFit/>
          </a:bodyPr>
          <a:lstStyle/>
          <a:p>
            <a:pPr algn="l"/>
            <a:r>
              <a:rPr lang="es-CO" sz="2800" b="1" dirty="0">
                <a:solidFill>
                  <a:srgbClr val="FFFFFF"/>
                </a:solidFill>
                <a:latin typeface="Roboto Condensed"/>
                <a:ea typeface="Roboto Condensed"/>
              </a:rPr>
              <a:t>Prototipo Funcional</a:t>
            </a:r>
          </a:p>
        </a:txBody>
      </p:sp>
      <p:sp>
        <p:nvSpPr>
          <p:cNvPr id="7" name="Contenido"/>
          <p:cNvSpPr txBox="1"/>
          <p:nvPr/>
        </p:nvSpPr>
        <p:spPr>
          <a:xfrm>
            <a:off x="896233" y="1620000"/>
            <a:ext cx="10500000" cy="4900000"/>
          </a:xfrm>
          <a:prstGeom prst="rect">
            <a:avLst/>
          </a:prstGeom>
          <a:noFill/>
        </p:spPr>
        <a:txBody>
          <a:bodyPr wrap="square" rtlCol="0">
            <a:spAutoFit/>
          </a:bodyPr>
          <a:lstStyle/>
          <a:p>
            <a:pPr algn="l"/>
            <a:r>
              <a:rPr lang="es-CO" sz="1600" b="1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La aplicación cuenta con un prototipo funcional desarrollado en Flutter</a:t>
            </a:r>
          </a:p>
          <a:p>
            <a:pPr algn="l"/>
            <a:r>
              <a:rPr lang="es-CO" sz="1600" b="1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Plataforma objetivo: Android (probado en Infinix X6728)</a:t>
            </a:r>
          </a:p>
          <a:p>
            <a:pPr algn="l"/>
            <a:r>
              <a:rPr lang="es-CO" sz="1600" b="1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Módulos implementados y operativos:</a:t>
            </a:r>
          </a:p>
          <a:p>
            <a:pPr algn="l"/>
            <a:r>
              <a:rPr lang="es-CO" sz="1400" b="0" dirty="0">
                <a:solidFill>
                  <a:srgbClr val="B3E5FC"/>
                </a:solidFill>
                <a:latin typeface="Bricolage Grotesque 18pt Conden"/>
                <a:ea typeface="Bricolage Grotesque 18pt Conden"/>
              </a:rPr>
              <a:t>  – Autenticación con Google y perfiles en Firestore</a:t>
            </a:r>
          </a:p>
          <a:p>
            <a:pPr algn="l"/>
            <a:r>
              <a:rPr lang="es-CO" sz="1400" b="0" dirty="0">
                <a:solidFill>
                  <a:srgbClr val="B3E5FC"/>
                </a:solidFill>
                <a:latin typeface="Bricolage Grotesque 18pt Conden"/>
                <a:ea typeface="Bricolage Grotesque 18pt Conden"/>
              </a:rPr>
              <a:t>  – Guía de estudio con 4 subtemas y contenido curricular</a:t>
            </a:r>
          </a:p>
          <a:p>
            <a:pPr algn="l"/>
            <a:r>
              <a:rPr lang="es-CO" sz="1400" b="0" dirty="0">
                <a:solidFill>
                  <a:srgbClr val="B3E5FC"/>
                </a:solidFill>
                <a:latin typeface="Bricolage Grotesque 18pt Conden"/>
                <a:ea typeface="Bricolage Grotesque 18pt Conden"/>
              </a:rPr>
              <a:t>  – Chatbot con contexto curricular y speech-to-text</a:t>
            </a:r>
          </a:p>
          <a:p>
            <a:pPr algn="l"/>
            <a:r>
              <a:rPr lang="es-CO" sz="1400" b="0" dirty="0">
                <a:solidFill>
                  <a:srgbClr val="B3E5FC"/>
                </a:solidFill>
                <a:latin typeface="Bricolage Grotesque 18pt Conden"/>
                <a:ea typeface="Bricolage Grotesque 18pt Conden"/>
              </a:rPr>
              <a:t>  – Escáner de imágenes con pipeline multi-modelo</a:t>
            </a:r>
          </a:p>
          <a:p>
            <a:pPr algn="l"/>
            <a:r>
              <a:rPr lang="es-CO" sz="1400" b="0" dirty="0">
                <a:solidFill>
                  <a:srgbClr val="B3E5FC"/>
                </a:solidFill>
                <a:latin typeface="Bricolage Grotesque 18pt Conden"/>
                <a:ea typeface="Bricolage Grotesque 18pt Conden"/>
              </a:rPr>
              <a:t>  – Sistema de gamificación: XP, logros, racha de estudio</a:t>
            </a:r>
          </a:p>
          <a:p>
            <a:pPr algn="l"/>
            <a:r>
              <a:rPr lang="es-CO" sz="1400" b="0" dirty="0">
                <a:solidFill>
                  <a:srgbClr val="B3E5FC"/>
                </a:solidFill>
                <a:latin typeface="Bricolage Grotesque 18pt Conden"/>
                <a:ea typeface="Bricolage Grotesque 18pt Conden"/>
              </a:rPr>
              <a:t>  – Glosario, quizzes con IA y realidad aumentada</a:t>
            </a:r>
          </a:p>
          <a:p>
            <a:pPr algn="l"/>
            <a:r>
              <a:rPr lang="es-CO" sz="1600" b="1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Próxima fase: validación con estudiantes de educación secundaria</a:t>
            </a:r>
          </a:p>
        </a:txBody>
      </p:sp>
    </p:spTree>
  </p:cSld>
  <p:extLst>
    <p:ext uri="{BB962C8B-B14F-4D97-AF65-F5344CB8AC3E}">
      <p14:creationId xmlns:p14="http://schemas.microsoft.com/office/powerpoint/2010/main" val="1234567890"/>
    </p:ext>
  </p:extLst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cion"/>
          <p:cNvSpPr txBox="1"/>
          <p:nvPr/>
        </p:nvSpPr>
        <p:spPr>
          <a:xfrm>
            <a:off x="896233" y="563174"/>
            <a:ext cx="4000000" cy="420000"/>
          </a:xfrm>
          <a:prstGeom prst="rect">
            <a:avLst/>
          </a:prstGeom>
          <a:noFill/>
        </p:spPr>
        <a:txBody>
          <a:bodyPr wrap="square" rtlCol="0">
            <a:spAutoFit/>
          </a:bodyPr>
          <a:lstStyle/>
          <a:p>
            <a:pPr algn="l"/>
            <a:r>
              <a:rPr lang="es-CO" sz="1400" b="0" dirty="0">
                <a:solidFill>
                  <a:srgbClr val="FFD600"/>
                </a:solidFill>
                <a:latin typeface="Roboto Condensed Light"/>
                <a:ea typeface="Roboto Condensed Light"/>
              </a:rPr>
              <a:t>Metodología</a:t>
            </a:r>
          </a:p>
        </a:txBody>
      </p:sp>
      <p:sp>
        <p:nvSpPr>
          <p:cNvPr id="6" name="Titulo"/>
          <p:cNvSpPr txBox="1"/>
          <p:nvPr/>
        </p:nvSpPr>
        <p:spPr>
          <a:xfrm>
            <a:off x="896233" y="980000"/>
            <a:ext cx="10500000" cy="550000"/>
          </a:xfrm>
          <a:prstGeom prst="rect">
            <a:avLst/>
          </a:prstGeom>
          <a:noFill/>
        </p:spPr>
        <a:txBody>
          <a:bodyPr wrap="square" rtlCol="0">
            <a:spAutoFit/>
          </a:bodyPr>
          <a:lstStyle/>
          <a:p>
            <a:pPr algn="l"/>
            <a:r>
              <a:rPr lang="es-CO" sz="2800" b="1" dirty="0">
                <a:solidFill>
                  <a:srgbClr val="FFFFFF"/>
                </a:solidFill>
                <a:latin typeface="Roboto Condensed"/>
                <a:ea typeface="Roboto Condensed"/>
              </a:rPr>
              <a:t>Evaluación y Validación</a:t>
            </a:r>
          </a:p>
        </a:txBody>
      </p:sp>
      <p:sp>
        <p:nvSpPr>
          <p:cNvPr id="7" name="Contenido"/>
          <p:cNvSpPr txBox="1"/>
          <p:nvPr/>
        </p:nvSpPr>
        <p:spPr>
          <a:xfrm>
            <a:off x="896233" y="1620000"/>
            <a:ext cx="10500000" cy="4900000"/>
          </a:xfrm>
          <a:prstGeom prst="rect">
            <a:avLst/>
          </a:prstGeom>
          <a:noFill/>
        </p:spPr>
        <a:txBody>
          <a:bodyPr wrap="square" rtlCol="0">
            <a:spAutoFit/>
          </a:bodyPr>
          <a:lstStyle/>
          <a:p>
            <a:pPr algn="l"/>
            <a:r>
              <a:rPr lang="es-CO" sz="1600" b="1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Diseño: Estudio de caso con estudiantes de educación secundaria</a:t>
            </a:r>
          </a:p>
          <a:p>
            <a:pPr algn="l"/>
            <a:r>
              <a:rPr lang="es-CO" sz="1600" b="1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Paradigma: Mixto (cuantitativo + cualitativo)</a:t>
            </a:r>
          </a:p>
          <a:p>
            <a:pPr algn="l"/>
            <a:r>
              <a:rPr lang="es-CO" sz="1600" b="1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Criterios de evaluación principales:</a:t>
            </a:r>
          </a:p>
          <a:p>
            <a:pPr algn="l"/>
            <a:r>
              <a:rPr lang="es-CO" sz="1400" b="0" dirty="0">
                <a:solidFill>
                  <a:srgbClr val="B3E5FC"/>
                </a:solidFill>
                <a:latin typeface="Bricolage Grotesque 18pt Conden"/>
                <a:ea typeface="Bricolage Grotesque 18pt Conden"/>
              </a:rPr>
              <a:t>  – Usabilidad — Escala SUS (System Usability Scale)</a:t>
            </a:r>
          </a:p>
          <a:p>
            <a:pPr algn="l"/>
            <a:r>
              <a:rPr lang="es-CO" sz="1400" b="0" dirty="0">
                <a:solidFill>
                  <a:srgbClr val="B3E5FC"/>
                </a:solidFill>
                <a:latin typeface="Bricolage Grotesque 18pt Conden"/>
                <a:ea typeface="Bricolage Grotesque 18pt Conden"/>
              </a:rPr>
              <a:t>  – Experiencia de usuario — Cuestionario UEQ</a:t>
            </a:r>
          </a:p>
          <a:p>
            <a:pPr algn="l"/>
            <a:r>
              <a:rPr lang="es-CO" sz="1400" b="0" dirty="0">
                <a:solidFill>
                  <a:srgbClr val="B3E5FC"/>
                </a:solidFill>
                <a:latin typeface="Bricolage Grotesque 18pt Conden"/>
                <a:ea typeface="Bricolage Grotesque 18pt Conden"/>
              </a:rPr>
              <a:t>  – Aceptación tecnológica — Modelo TAM adaptado</a:t>
            </a:r>
          </a:p>
          <a:p>
            <a:pPr algn="l"/>
            <a:r>
              <a:rPr lang="es-CO" sz="1400" b="0" dirty="0">
                <a:solidFill>
                  <a:srgbClr val="B3E5FC"/>
                </a:solidFill>
                <a:latin typeface="Bricolage Grotesque 18pt Conden"/>
                <a:ea typeface="Bricolage Grotesque 18pt Conden"/>
              </a:rPr>
              <a:t>  – Utilidad percibida e intención de uso</a:t>
            </a:r>
          </a:p>
          <a:p>
            <a:pPr algn="l"/>
            <a:r>
              <a:rPr lang="es-CO" sz="1600" b="1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Instrumentos: cuestionarios, entrevistas semiestructuradas, observación</a:t>
            </a:r>
          </a:p>
          <a:p>
            <a:pPr algn="l"/>
            <a:r>
              <a:rPr lang="es-CO" sz="1600" b="1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Análisis: estadística descriptiva + análisis de contenido cualitativo</a:t>
            </a:r>
          </a:p>
        </a:txBody>
      </p:sp>
    </p:spTree>
  </p:cSld>
  <p:extLst>
    <p:ext uri="{BB962C8B-B14F-4D97-AF65-F5344CB8AC3E}">
      <p14:creationId xmlns:p14="http://schemas.microsoft.com/office/powerpoint/2010/main" val="1234567890"/>
    </p:ext>
  </p:extLst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cion"/>
          <p:cNvSpPr txBox="1"/>
          <p:nvPr/>
        </p:nvSpPr>
        <p:spPr>
          <a:xfrm>
            <a:off x="896233" y="563174"/>
            <a:ext cx="4000000" cy="420000"/>
          </a:xfrm>
          <a:prstGeom prst="rect">
            <a:avLst/>
          </a:prstGeom>
          <a:noFill/>
        </p:spPr>
        <a:txBody>
          <a:bodyPr wrap="square" rtlCol="0">
            <a:spAutoFit/>
          </a:bodyPr>
          <a:lstStyle/>
          <a:p>
            <a:pPr algn="l"/>
            <a:r>
              <a:rPr lang="es-CO" sz="1400" b="0" dirty="0">
                <a:solidFill>
                  <a:srgbClr val="FFD600"/>
                </a:solidFill>
                <a:latin typeface="Roboto Condensed Light"/>
                <a:ea typeface="Roboto Condensed Light"/>
              </a:rPr>
              <a:t>Resultados y Aportes</a:t>
            </a:r>
          </a:p>
        </a:txBody>
      </p:sp>
      <p:sp>
        <p:nvSpPr>
          <p:cNvPr id="6" name="Titulo"/>
          <p:cNvSpPr txBox="1"/>
          <p:nvPr/>
        </p:nvSpPr>
        <p:spPr>
          <a:xfrm>
            <a:off x="896233" y="980000"/>
            <a:ext cx="10500000" cy="550000"/>
          </a:xfrm>
          <a:prstGeom prst="rect">
            <a:avLst/>
          </a:prstGeom>
          <a:noFill/>
        </p:spPr>
        <a:txBody>
          <a:bodyPr wrap="square" rtlCol="0">
            <a:spAutoFit/>
          </a:bodyPr>
          <a:lstStyle/>
          <a:p>
            <a:pPr algn="l"/>
            <a:r>
              <a:rPr lang="es-CO" sz="2800" b="1" dirty="0">
                <a:solidFill>
                  <a:srgbClr val="FFFFFF"/>
                </a:solidFill>
                <a:latin typeface="Roboto Condensed"/>
                <a:ea typeface="Roboto Condensed"/>
              </a:rPr>
              <a:t>Proyecciones de la Investigación</a:t>
            </a:r>
          </a:p>
        </a:txBody>
      </p:sp>
      <p:sp>
        <p:nvSpPr>
          <p:cNvPr id="7" name="Col1"/>
          <p:cNvSpPr txBox="1"/>
          <p:nvPr/>
        </p:nvSpPr>
        <p:spPr>
          <a:xfrm>
            <a:off x="896233" y="1620000"/>
            <a:ext cx="4900000" cy="4900000"/>
          </a:xfrm>
          <a:prstGeom prst="rect">
            <a:avLst/>
          </a:prstGeom>
          <a:noFill/>
        </p:spPr>
        <a:txBody>
          <a:bodyPr wrap="square" rtlCol="0">
            <a:spAutoFit/>
          </a:bodyPr>
          <a:lstStyle/>
          <a:p>
            <a:pPr algn="l"/>
            <a:r>
              <a:rPr lang="es-CO" sz="1800" b="1" dirty="0">
                <a:solidFill>
                  <a:srgbClr val="FFD600"/>
                </a:solidFill>
                <a:latin typeface="Roboto Condensed"/>
                <a:ea typeface="Roboto Condensed"/>
              </a:rPr>
              <a:t>Resultados Esperados</a:t>
            </a:r>
          </a:p>
          <a:p>
            <a:pPr algn="l"/>
            <a:r>
              <a:rPr lang="es-CO" sz="1500" b="0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Alta usabilidad percibida (SUS &gt; 70)</a:t>
            </a:r>
          </a:p>
          <a:p>
            <a:pPr algn="l"/>
            <a:r>
              <a:rPr lang="es-CO" sz="1500" b="0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Actitud positiva hacia el uso de IA educativa</a:t>
            </a:r>
          </a:p>
          <a:p>
            <a:pPr algn="l"/>
            <a:r>
              <a:rPr lang="es-CO" sz="1500" b="0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Mejora de la motivación e interacción</a:t>
            </a:r>
          </a:p>
          <a:p>
            <a:pPr algn="l"/>
            <a:r>
              <a:rPr lang="es-CO" sz="1500" b="0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Aceptación del chatbot como apoyo pedagógico</a:t>
            </a:r>
          </a:p>
          <a:p>
            <a:pPr algn="l"/>
            <a:r>
              <a:rPr lang="es-CO" sz="1500" b="0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Validación del enfoque multi-modelo de IA</a:t>
            </a:r>
          </a:p>
        </a:txBody>
      </p:sp>
      <p:sp>
        <p:nvSpPr>
          <p:cNvPr id="8" name="Col2"/>
          <p:cNvSpPr txBox="1"/>
          <p:nvPr/>
        </p:nvSpPr>
        <p:spPr>
          <a:xfrm>
            <a:off x="6196233" y="1620000"/>
            <a:ext cx="5100000" cy="4900000"/>
          </a:xfrm>
          <a:prstGeom prst="rect">
            <a:avLst/>
          </a:prstGeom>
          <a:noFill/>
        </p:spPr>
        <a:txBody>
          <a:bodyPr wrap="square" rtlCol="0">
            <a:spAutoFit/>
          </a:bodyPr>
          <a:lstStyle/>
          <a:p>
            <a:pPr algn="l"/>
            <a:r>
              <a:rPr lang="es-CO" sz="1800" b="1" dirty="0">
                <a:solidFill>
                  <a:srgbClr val="FFD600"/>
                </a:solidFill>
                <a:latin typeface="Roboto Condensed"/>
                <a:ea typeface="Roboto Condensed"/>
              </a:rPr>
              <a:t>Contribuciones Científicas</a:t>
            </a:r>
          </a:p>
          <a:p>
            <a:pPr algn="l"/>
            <a:r>
              <a:rPr lang="es-CO" sz="1500" b="0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Modelo de app educativa con IA dual</a:t>
            </a:r>
          </a:p>
          <a:p>
            <a:pPr algn="l"/>
            <a:r>
              <a:rPr lang="es-CO" sz="1500" b="0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Framework de inyección de contexto curricular</a:t>
            </a:r>
          </a:p>
          <a:p>
            <a:pPr algn="l"/>
            <a:r>
              <a:rPr lang="es-CO" sz="1500" b="0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Pipeline de reconocimiento visual offline-first</a:t>
            </a:r>
          </a:p>
          <a:p>
            <a:pPr algn="l"/>
            <a:r>
              <a:rPr lang="es-CO" sz="1500" b="0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Evidencia empírica de IA en m-learning</a:t>
            </a:r>
          </a:p>
          <a:p>
            <a:pPr algn="l"/>
            <a:r>
              <a:rPr lang="es-CO" sz="1500" b="0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Guía para diseño de apps educativas inteligentes</a:t>
            </a:r>
          </a:p>
        </a:txBody>
      </p:sp>
    </p:spTree>
  </p:cSld>
  <p:extLst>
    <p:ext uri="{BB962C8B-B14F-4D97-AF65-F5344CB8AC3E}">
      <p14:creationId xmlns:p14="http://schemas.microsoft.com/office/powerpoint/2010/main" val="1234567890"/>
    </p:ext>
  </p:extLst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cion"/>
          <p:cNvSpPr txBox="1"/>
          <p:nvPr/>
        </p:nvSpPr>
        <p:spPr>
          <a:xfrm>
            <a:off x="896233" y="563174"/>
            <a:ext cx="4000000" cy="420000"/>
          </a:xfrm>
          <a:prstGeom prst="rect">
            <a:avLst/>
          </a:prstGeom>
          <a:noFill/>
        </p:spPr>
        <a:txBody>
          <a:bodyPr wrap="square" rtlCol="0">
            <a:spAutoFit/>
          </a:bodyPr>
          <a:lstStyle/>
          <a:p>
            <a:pPr algn="l"/>
            <a:r>
              <a:rPr lang="es-CO" sz="1400" b="0" dirty="0">
                <a:solidFill>
                  <a:srgbClr val="FFD600"/>
                </a:solidFill>
                <a:latin typeface="Roboto Condensed Light"/>
                <a:ea typeface="Roboto Condensed Light"/>
              </a:rPr>
              <a:t>Conclusiones</a:t>
            </a:r>
          </a:p>
        </a:txBody>
      </p:sp>
      <p:sp>
        <p:nvSpPr>
          <p:cNvPr id="6" name="Titulo"/>
          <p:cNvSpPr txBox="1"/>
          <p:nvPr/>
        </p:nvSpPr>
        <p:spPr>
          <a:xfrm>
            <a:off x="896233" y="980000"/>
            <a:ext cx="10500000" cy="550000"/>
          </a:xfrm>
          <a:prstGeom prst="rect">
            <a:avLst/>
          </a:prstGeom>
          <a:noFill/>
        </p:spPr>
        <a:txBody>
          <a:bodyPr wrap="square" rtlCol="0">
            <a:spAutoFit/>
          </a:bodyPr>
          <a:lstStyle/>
          <a:p>
            <a:pPr algn="l"/>
            <a:r>
              <a:rPr lang="es-CO" sz="2800" b="1" dirty="0">
                <a:solidFill>
                  <a:srgbClr val="FFFFFF"/>
                </a:solidFill>
                <a:latin typeface="Roboto Condensed"/>
                <a:ea typeface="Roboto Condensed"/>
              </a:rPr>
              <a:t>Reflexiones Finales y Trabajo Futuro</a:t>
            </a:r>
          </a:p>
        </a:txBody>
      </p:sp>
      <p:sp>
        <p:nvSpPr>
          <p:cNvPr id="7" name="Contenido"/>
          <p:cNvSpPr txBox="1"/>
          <p:nvPr/>
        </p:nvSpPr>
        <p:spPr>
          <a:xfrm>
            <a:off x="896233" y="1620000"/>
            <a:ext cx="10500000" cy="4900000"/>
          </a:xfrm>
          <a:prstGeom prst="rect">
            <a:avLst/>
          </a:prstGeom>
          <a:noFill/>
        </p:spPr>
        <a:txBody>
          <a:bodyPr wrap="square" rtlCol="0">
            <a:spAutoFit/>
          </a:bodyPr>
          <a:lstStyle/>
          <a:p>
            <a:pPr algn="l"/>
            <a:r>
              <a:rPr lang="es-CO" sz="1600" b="1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La integración de LLMs y visión por computador amplía las posibilidades del m-learning</a:t>
            </a:r>
          </a:p>
          <a:p>
            <a:pPr algn="l"/>
            <a:r>
              <a:rPr lang="es-CO" sz="1600" b="1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El chatbot con contexto curricular garantiza alineación pedagógica</a:t>
            </a:r>
          </a:p>
          <a:p>
            <a:pPr algn="l"/>
            <a:r>
              <a:rPr lang="es-CO" sz="1600" b="1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El enfoque multi-modelo asegura funcionalidad en conectividad variable</a:t>
            </a:r>
          </a:p>
          <a:p>
            <a:pPr algn="l"/>
            <a:r>
              <a:rPr lang="es-CO" sz="1600" b="1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La gamificación potencia la motivación y permanencia del estudiante</a:t>
            </a:r>
          </a:p>
          <a:p>
            <a:pPr algn="l"/>
            <a:r>
              <a:rPr lang="es-CO" sz="1600" b="1" dirty="0">
                <a:solidFill>
                  <a:srgbClr val="FFFFFF"/>
                </a:solidFill>
                <a:latin typeface="Bricolage Grotesque 18pt Conden"/>
                <a:ea typeface="Bricolage Grotesque 18pt Conden"/>
              </a:rPr>
              <a:t>• Trabajo Futuro:</a:t>
            </a:r>
          </a:p>
          <a:p>
            <a:pPr algn="l"/>
            <a:r>
              <a:rPr lang="es-CO" sz="1400" b="0" dirty="0">
                <a:solidFill>
                  <a:srgbClr val="B3E5FC"/>
                </a:solidFill>
                <a:latin typeface="Bricolage Grotesque 18pt Conden"/>
                <a:ea typeface="Bricolage Grotesque 18pt Conden"/>
              </a:rPr>
              <a:t>  – Ampliar contenidos a otras unidades del currículo de ciencias</a:t>
            </a:r>
          </a:p>
          <a:p>
            <a:pPr algn="l"/>
            <a:r>
              <a:rPr lang="es-CO" sz="1400" b="0" dirty="0">
                <a:solidFill>
                  <a:srgbClr val="B3E5FC"/>
                </a:solidFill>
                <a:latin typeface="Bricolage Grotesque 18pt Conden"/>
                <a:ea typeface="Bricolage Grotesque 18pt Conden"/>
              </a:rPr>
              <a:t>  – Desarrollar funcionalidades offline completas</a:t>
            </a:r>
          </a:p>
          <a:p>
            <a:pPr algn="l"/>
            <a:r>
              <a:rPr lang="es-CO" sz="1400" b="0" dirty="0">
                <a:solidFill>
                  <a:srgbClr val="B3E5FC"/>
                </a:solidFill>
                <a:latin typeface="Bricolage Grotesque 18pt Conden"/>
                <a:ea typeface="Bricolage Grotesque 18pt Conden"/>
              </a:rPr>
              <a:t>  – Evaluación longitudinal con grupos control y experimental</a:t>
            </a:r>
          </a:p>
          <a:p>
            <a:pPr algn="l"/>
            <a:r>
              <a:rPr lang="es-CO" sz="1400" b="0" dirty="0">
                <a:solidFill>
                  <a:srgbClr val="B3E5FC"/>
                </a:solidFill>
                <a:latin typeface="Bricolage Grotesque 18pt Conden"/>
                <a:ea typeface="Bricolage Grotesque 18pt Conden"/>
              </a:rPr>
              <a:t>  – Publicar resultados en revistas de tecnología educativa</a:t>
            </a:r>
          </a:p>
        </a:txBody>
      </p:sp>
    </p:spTree>
  </p:cSld>
  <p:extLst>
    <p:ext uri="{BB962C8B-B14F-4D97-AF65-F5344CB8AC3E}">
      <p14:creationId xmlns:p14="http://schemas.microsoft.com/office/powerpoint/2010/main" val="1234567890"/>
    </p:ext>
  </p:extLst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ierre"/>
          <p:cNvSpPr txBox="1"/>
          <p:nvPr/>
        </p:nvSpPr>
        <p:spPr>
          <a:xfrm>
            <a:off x="1000000" y="2000000"/>
            <a:ext cx="10200000" cy="3000000"/>
          </a:xfrm>
          <a:prstGeom prst="rect">
            <a:avLst/>
          </a:prstGeom>
          <a:noFill/>
        </p:spPr>
        <a:txBody>
          <a:bodyPr wrap="square" rtlCol="0">
            <a:spAutoFit/>
          </a:bodyPr>
          <a:lstStyle/>
          <a:p>
            <a:pPr algn="ctr"/>
            <a:r>
              <a:rPr lang="es-CO" sz="4400" b="1" dirty="0">
                <a:solidFill>
                  <a:srgbClr val="FFFFFF"/>
                </a:solidFill>
                <a:latin typeface="Roboto Condensed"/>
                <a:ea typeface="Roboto Condensed"/>
              </a:rPr>
              <a:t>¡Gracias!</a:t>
            </a:r>
          </a:p>
          <a:p>
            <a:pPr algn="l"/>
          </a:p>
          <a:p>
            <a:pPr algn="ctr"/>
            <a:r>
              <a:rPr lang="es-CO" sz="2000" b="0" dirty="0">
                <a:solidFill>
                  <a:srgbClr val="B3E5FC"/>
                </a:solidFill>
                <a:latin typeface="Bricolage Grotesque 18pt Conden"/>
                <a:ea typeface="Bricolage Grotesque 18pt Conden"/>
              </a:rPr>
              <a:t>Preguntas y comentarios</a:t>
            </a:r>
          </a:p>
          <a:p>
            <a:pPr algn="l"/>
          </a:p>
          <a:p>
            <a:pPr algn="ctr"/>
            <a:r>
              <a:rPr lang="es-CO" sz="1600" b="0" dirty="0">
                <a:solidFill>
                  <a:srgbClr val="FFD600"/>
                </a:solidFill>
                <a:latin typeface="Bricolage Grotesque 18pt Conden"/>
                <a:ea typeface="Bricolage Grotesque 18pt Conden"/>
              </a:rPr>
              <a:t>[correo@universidad.edu]</a:t>
            </a:r>
          </a:p>
        </a:txBody>
      </p:sp>
    </p:spTree>
  </p:cSld>
  <p:extLst>
    <p:ext uri="{BB962C8B-B14F-4D97-AF65-F5344CB8AC3E}">
      <p14:creationId xmlns:p14="http://schemas.microsoft.com/office/powerpoint/2010/main" val="1234567890"/>
    </p:ext>
  </p:extLst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18</Words>
  <Application>Microsoft Macintosh PowerPoint</Application>
  <PresentationFormat>Panorámica</PresentationFormat>
  <Paragraphs>5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1" baseType="lpstr">
      <vt:lpstr>Arial</vt:lpstr>
      <vt:lpstr>Bricolage Grotesque 18pt Conden</vt:lpstr>
      <vt:lpstr>Calibri</vt:lpstr>
      <vt:lpstr>Calibri Light</vt:lpstr>
      <vt:lpstr>Roboto Condensed</vt:lpstr>
      <vt:lpstr>Roboto Condensed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Microsoft Office User</cp:lastModifiedBy>
  <cp:revision>3</cp:revision>
  <dcterms:created xsi:type="dcterms:W3CDTF">2025-04-21T16:37:31Z</dcterms:created>
  <dcterms:modified xsi:type="dcterms:W3CDTF">2026-04-14T16:50:28Z</dcterms:modified>
</cp:coreProperties>
</file>